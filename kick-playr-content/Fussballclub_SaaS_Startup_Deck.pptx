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17EF0"/>
                </a:solidFill>
                <a:latin typeface="Aptos"/>
              </a:rPr>
              <a:t>FOOTBALL CLUB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669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Aptos"/>
              </a:rPr>
              <a:t>Die operative Plattform</a:t>
            </a:r>
            <a:br/>
            <a:r>
              <a:t>für den ganzen Fussballclub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AAB4C3"/>
                </a:solidFill>
                <a:latin typeface="Aptos"/>
              </a:rPr>
              <a:t>Administration automatisieren. Trainer befähigen. Mitgliedern Self-Service geben.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794760"/>
            <a:ext cx="2057400" cy="438912"/>
          </a:xfrm>
          <a:prstGeom prst="roundRect">
            <a:avLst/>
          </a:prstGeom>
          <a:solidFill>
            <a:srgbClr val="1E6649"/>
          </a:solidFill>
          <a:ln>
            <a:solidFill>
              <a:srgbClr val="1E6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867912"/>
            <a:ext cx="2057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bexio bleibt das ERP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Vom Probetraining bis zum aktiven Mitglied – ein durchgängiger Prozess.</a:t>
            </a:r>
          </a:p>
        </p:txBody>
      </p:sp>
      <p:pic>
        <p:nvPicPr>
          <p:cNvPr id="8" name="Picture 7" descr="crop_1_IMG_6352.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502920"/>
            <a:ext cx="2194560" cy="5760720"/>
          </a:xfrm>
          <a:prstGeom prst="rect">
            <a:avLst/>
          </a:prstGeom>
        </p:spPr>
      </p:pic>
      <p:pic>
        <p:nvPicPr>
          <p:cNvPr id="9" name="Picture 8" descr="crop_1_IMG_6342.p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868680"/>
            <a:ext cx="219456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417EF0"/>
                </a:solidFill>
                <a:latin typeface="Aptos"/>
              </a:rPr>
              <a:t>PAIN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Ein Club. Viele Systeme. Zu viele manuelle Übergaben.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AAB4C3"/>
                </a:solidFill>
                <a:latin typeface="Aptos"/>
              </a:rPr>
              <a:t>Die Daten existieren – aber die Arbeit bleibt beim Vorstand und bei den Trainern.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03120"/>
            <a:ext cx="5303520" cy="676656"/>
          </a:xfrm>
          <a:prstGeom prst="roundRect">
            <a:avLst/>
          </a:prstGeom>
          <a:solidFill>
            <a:srgbClr val="192840"/>
          </a:solidFill>
          <a:ln>
            <a:solidFill>
              <a:srgbClr val="4656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31136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bexio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2221991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AAB4C3"/>
                </a:solidFill>
                <a:latin typeface="Aptos"/>
              </a:rPr>
              <a:t>Mitglieder, Rechnungen, Zahlungen – primär Administration.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971800"/>
            <a:ext cx="5303520" cy="676656"/>
          </a:xfrm>
          <a:prstGeom prst="roundRect">
            <a:avLst/>
          </a:prstGeom>
          <a:solidFill>
            <a:srgbClr val="192840"/>
          </a:solidFill>
          <a:ln>
            <a:solidFill>
              <a:srgbClr val="4656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099816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clubcorner / 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09067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AAB4C3"/>
                </a:solidFill>
                <a:latin typeface="Aptos"/>
              </a:rPr>
              <a:t>Pflichtprozesse ohne passende Automatisierung.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840479"/>
            <a:ext cx="5303520" cy="676656"/>
          </a:xfrm>
          <a:prstGeom prst="roundRect">
            <a:avLst/>
          </a:prstGeom>
          <a:solidFill>
            <a:srgbClr val="192840"/>
          </a:solidFill>
          <a:ln>
            <a:solidFill>
              <a:srgbClr val="4656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968495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SpielerPlus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3959351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AAB4C3"/>
                </a:solidFill>
                <a:latin typeface="Aptos"/>
              </a:rPr>
              <a:t>Teamalltag – aber begrenzte Integration.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709159"/>
            <a:ext cx="5303520" cy="676656"/>
          </a:xfrm>
          <a:prstGeom prst="roundRect">
            <a:avLst/>
          </a:prstGeom>
          <a:solidFill>
            <a:srgbClr val="192840"/>
          </a:solidFill>
          <a:ln>
            <a:solidFill>
              <a:srgbClr val="4656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837175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E-Mail / WhatsApp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4828031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AAB4C3"/>
                </a:solidFill>
                <a:latin typeface="Aptos"/>
              </a:rPr>
              <a:t>Übergaben, Erinnerungen und Wissen bleiben manuell.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488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DE7123"/>
                </a:solidFill>
                <a:latin typeface="Aptos"/>
              </a:rPr>
              <a:t>DIE FOLGE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6517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8FAFC"/>
                </a:solidFill>
                <a:latin typeface="Aptos"/>
              </a:rPr>
              <a:t>— Doppelte Datenerfassung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310128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8FAFC"/>
                </a:solidFill>
                <a:latin typeface="Aptos"/>
              </a:rPr>
              <a:t>— Wissen bei Einzelpersonen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968496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F8FAFC"/>
                </a:solidFill>
                <a:latin typeface="Aptos"/>
              </a:rPr>
              <a:t>— Trainer ohne ERP-Zugriff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626864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— Offene Aufgaben werden vergessen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5440680"/>
            <a:ext cx="4892040" cy="685800"/>
          </a:xfrm>
          <a:prstGeom prst="roundRect">
            <a:avLst/>
          </a:prstGeom>
          <a:solidFill>
            <a:srgbClr val="461F1E"/>
          </a:solidFill>
          <a:ln>
            <a:solidFill>
              <a:srgbClr val="C426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5605272"/>
            <a:ext cx="4526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Nicht fehlende Software – fehlender Prozess.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417EF0"/>
                </a:solidFill>
                <a:latin typeface="Aptos"/>
              </a:rPr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Eine operative Schicht über bexio – speziell für Fussballclubs.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AAB4C3"/>
                </a:solidFill>
                <a:latin typeface="Aptos"/>
              </a:rPr>
              <a:t>Automatisieren, wo APIs es erlauben. Assistieren, wo Automatisierung nicht möglich oder nicht erlaubt ist.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86200" y="2103120"/>
            <a:ext cx="4434840" cy="1325880"/>
          </a:xfrm>
          <a:prstGeom prst="roundRect">
            <a:avLst/>
          </a:prstGeom>
          <a:solidFill>
            <a:srgbClr val="1E6649"/>
          </a:solidFill>
          <a:ln>
            <a:solidFill>
              <a:srgbClr val="1E6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86200" y="2395728"/>
            <a:ext cx="4434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Aptos"/>
              </a:rPr>
              <a:t>FOOTBALL CLUB</a:t>
            </a:r>
            <a:br/>
            <a:r>
              <a:t>OPERATIONS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2743200" cy="1325880"/>
          </a:xfrm>
          <a:prstGeom prst="roundRect">
            <a:avLst/>
          </a:prstGeom>
          <a:solidFill>
            <a:srgbClr val="192840"/>
          </a:solidFill>
          <a:ln>
            <a:solidFill>
              <a:srgbClr val="4656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1343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417EF0"/>
                </a:solidFill>
                <a:latin typeface="Aptos"/>
              </a:rPr>
              <a:t>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Workflows · Beiträge</a:t>
            </a:r>
            <a:br/>
            <a:r>
              <a:t>Onboarding · Reporting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2103120"/>
            <a:ext cx="2743200" cy="1325880"/>
          </a:xfrm>
          <a:prstGeom prst="roundRect">
            <a:avLst/>
          </a:prstGeom>
          <a:solidFill>
            <a:srgbClr val="192840"/>
          </a:solidFill>
          <a:ln>
            <a:solidFill>
              <a:srgbClr val="4656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231343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417EF0"/>
                </a:solidFill>
                <a:latin typeface="Aptos"/>
              </a:rPr>
              <a:t>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2697480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Team · Elternkontakte</a:t>
            </a:r>
            <a:br/>
            <a:r>
              <a:t>Probe · Beiträge · Voucher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86200" y="4160520"/>
            <a:ext cx="4434840" cy="1143000"/>
          </a:xfrm>
          <a:prstGeom prst="roundRect">
            <a:avLst/>
          </a:prstGeom>
          <a:solidFill>
            <a:srgbClr val="192840"/>
          </a:solidFill>
          <a:ln>
            <a:solidFill>
              <a:srgbClr val="4656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86200" y="4370832"/>
            <a:ext cx="4434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417EF0"/>
                </a:solidFill>
                <a:latin typeface="Aptos"/>
              </a:rPr>
              <a:t>MITGLIED / ELTERN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4754880"/>
            <a:ext cx="4434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Badge · Rechnungen · Voucher · Änderungen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94360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AAB4C3"/>
                </a:solidFill>
                <a:latin typeface="Aptos"/>
              </a:rPr>
              <a:t>bexio = System of Record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594360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AAB4C3"/>
                </a:solidFill>
                <a:latin typeface="Aptos"/>
              </a:rPr>
              <a:t>Clerk = Identity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594360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>
                <a:solidFill>
                  <a:srgbClr val="AAB4C3"/>
                </a:solidFill>
                <a:latin typeface="Aptos"/>
              </a:rPr>
              <a:t>Pingen · Dropbox · E-Mail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417EF0"/>
                </a:solidFill>
                <a:latin typeface="Aptos"/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Vom Probetraining zum aktiven Mitglied.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AAB4C3"/>
                </a:solidFill>
                <a:latin typeface="Aptos"/>
              </a:rPr>
              <a:t>Ein durchgängiger Workflow statt Listen, E-Mails und Systemwechsel.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2240280"/>
            <a:ext cx="1627632" cy="1417320"/>
          </a:xfrm>
          <a:prstGeom prst="roundRect">
            <a:avLst/>
          </a:prstGeom>
          <a:solidFill>
            <a:srgbClr val="192840"/>
          </a:solidFill>
          <a:ln>
            <a:solidFill>
              <a:srgbClr val="4656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395728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417EF0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761488"/>
            <a:ext cx="13716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Online</a:t>
            </a:r>
            <a:br/>
            <a:r>
              <a:t>Anmeldung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84832" y="2761488"/>
            <a:ext cx="256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AAB4C3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59152" y="2240280"/>
            <a:ext cx="1627632" cy="1417320"/>
          </a:xfrm>
          <a:prstGeom prst="roundRect">
            <a:avLst/>
          </a:prstGeom>
          <a:solidFill>
            <a:srgbClr val="192840"/>
          </a:solidFill>
          <a:ln>
            <a:solidFill>
              <a:srgbClr val="4656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2395728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417EF0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7168" y="2761488"/>
            <a:ext cx="13716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Team + Training</a:t>
            </a:r>
            <a:br/>
            <a:r>
              <a:t>automatisch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5072" y="2761488"/>
            <a:ext cx="256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AAB4C3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9392" y="2240280"/>
            <a:ext cx="1627632" cy="1417320"/>
          </a:xfrm>
          <a:prstGeom prst="roundRect">
            <a:avLst/>
          </a:prstGeom>
          <a:solidFill>
            <a:srgbClr val="192840"/>
          </a:solidFill>
          <a:ln>
            <a:solidFill>
              <a:srgbClr val="4656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395728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417EF0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7" y="2761488"/>
            <a:ext cx="13716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Trainer + Eltern</a:t>
            </a:r>
            <a:br/>
            <a:r>
              <a:t>automatisch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5312" y="2761488"/>
            <a:ext cx="256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AAB4C3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2240280"/>
            <a:ext cx="1627632" cy="1417320"/>
          </a:xfrm>
          <a:prstGeom prst="roundRect">
            <a:avLst/>
          </a:prstGeom>
          <a:solidFill>
            <a:srgbClr val="192840"/>
          </a:solidFill>
          <a:ln>
            <a:solidFill>
              <a:srgbClr val="4656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395728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417EF0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2761488"/>
            <a:ext cx="13716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Aufnahme +</a:t>
            </a:r>
            <a:br/>
            <a:r>
              <a:t>Onboarding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45552" y="2761488"/>
            <a:ext cx="256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AAB4C3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9872" y="2240280"/>
            <a:ext cx="1627632" cy="1417320"/>
          </a:xfrm>
          <a:prstGeom prst="roundRect">
            <a:avLst/>
          </a:prstGeom>
          <a:solidFill>
            <a:srgbClr val="192840"/>
          </a:solidFill>
          <a:ln>
            <a:solidFill>
              <a:srgbClr val="4656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2395728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417EF0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761488"/>
            <a:ext cx="13716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bexio Rechnung</a:t>
            </a:r>
            <a:br/>
            <a:r>
              <a:t>automatisch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65792" y="2761488"/>
            <a:ext cx="2560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AAB4C3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40112" y="2240280"/>
            <a:ext cx="1627632" cy="1417320"/>
          </a:xfrm>
          <a:prstGeom prst="roundRect">
            <a:avLst/>
          </a:prstGeom>
          <a:solidFill>
            <a:srgbClr val="192840"/>
          </a:solidFill>
          <a:ln>
            <a:solidFill>
              <a:srgbClr val="4656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49840" y="2395728"/>
            <a:ext cx="320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417EF0"/>
                </a:solidFill>
                <a:latin typeface="Apto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68128" y="2761488"/>
            <a:ext cx="13716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Zahlung →</a:t>
            </a:r>
            <a:br/>
            <a:r>
              <a:t>Voucher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297680"/>
            <a:ext cx="10835640" cy="1051560"/>
          </a:xfrm>
          <a:prstGeom prst="roundRect">
            <a:avLst/>
          </a:prstGeom>
          <a:solidFill>
            <a:srgbClr val="1B2D43"/>
          </a:solidFill>
          <a:ln>
            <a:solidFill>
              <a:srgbClr val="4656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553712"/>
            <a:ext cx="10378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8FAFC"/>
                </a:solidFill>
                <a:latin typeface="Aptos"/>
              </a:rPr>
              <a:t>Manuelle Gates:  clubcorner  •  NDS / J+S  •  SpielerPlus  •  WhatsApp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965192"/>
            <a:ext cx="10378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AAB4C3"/>
                </a:solidFill>
                <a:latin typeface="Aptos"/>
              </a:rPr>
              <a:t>Daten vorbereiten · Copy-Actions · Status · Verantwortlichkeit · Audit-Historie</a:t>
            </a:r>
          </a:p>
        </p:txBody>
      </p:sp>
      <p:pic>
        <p:nvPicPr>
          <p:cNvPr id="31" name="Picture 30" descr="crop_4_IMG_6341.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1874519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417EF0"/>
                </a:solidFill>
                <a:latin typeface="Aptos"/>
              </a:rPr>
              <a:t>DIFFERENTIATOR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Payment-to-Voucher: ein kompletter Clubprozess.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AAB4C3"/>
                </a:solidFill>
                <a:latin typeface="Aptos"/>
              </a:rPr>
              <a:t>Nach vollständiger Erstzahlung: Voucher, PDF, QR, Live-Prüfung, Einlösung und Shop-Abrechnung.</a:t>
            </a:r>
          </a:p>
        </p:txBody>
      </p:sp>
      <p:pic>
        <p:nvPicPr>
          <p:cNvPr id="5" name="Picture 4" descr="crop_5_IMG_6359.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93392"/>
            <a:ext cx="2743200" cy="4251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794760" y="2103120"/>
            <a:ext cx="2103120" cy="1051560"/>
          </a:xfrm>
          <a:prstGeom prst="roundRect">
            <a:avLst/>
          </a:prstGeom>
          <a:solidFill>
            <a:srgbClr val="192840"/>
          </a:solidFill>
          <a:ln>
            <a:solidFill>
              <a:srgbClr val="4656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94760" y="228600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100 % bezahlt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2697479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AAB4C3"/>
                </a:solidFill>
                <a:latin typeface="Aptos"/>
              </a:rPr>
              <a:t>bexio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03120"/>
            <a:ext cx="2103120" cy="1051560"/>
          </a:xfrm>
          <a:prstGeom prst="roundRect">
            <a:avLst/>
          </a:prstGeom>
          <a:solidFill>
            <a:srgbClr val="192840"/>
          </a:solidFill>
          <a:ln>
            <a:solidFill>
              <a:srgbClr val="4656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28600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Voucher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97479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AAB4C3"/>
                </a:solidFill>
                <a:latin typeface="Aptos"/>
              </a:rPr>
              <a:t>PDF + E-Mail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2103120"/>
            <a:ext cx="2103120" cy="1051560"/>
          </a:xfrm>
          <a:prstGeom prst="roundRect">
            <a:avLst/>
          </a:prstGeom>
          <a:solidFill>
            <a:srgbClr val="192840"/>
          </a:solidFill>
          <a:ln>
            <a:solidFill>
              <a:srgbClr val="4656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3960" y="228600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QR Scan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2697479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AAB4C3"/>
                </a:solidFill>
                <a:latin typeface="Aptos"/>
              </a:rPr>
              <a:t>Live-Prüfung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94760" y="3657600"/>
            <a:ext cx="2103120" cy="1051560"/>
          </a:xfrm>
          <a:prstGeom prst="roundRect">
            <a:avLst/>
          </a:prstGeom>
          <a:solidFill>
            <a:srgbClr val="192840"/>
          </a:solidFill>
          <a:ln>
            <a:solidFill>
              <a:srgbClr val="4656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94760" y="384048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Sportshop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425196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AAB4C3"/>
                </a:solidFill>
                <a:latin typeface="Aptos"/>
              </a:rPr>
              <a:t>Einlösen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657600"/>
            <a:ext cx="2103120" cy="1051560"/>
          </a:xfrm>
          <a:prstGeom prst="roundRect">
            <a:avLst/>
          </a:prstGeom>
          <a:solidFill>
            <a:srgbClr val="192840"/>
          </a:solidFill>
          <a:ln>
            <a:solidFill>
              <a:srgbClr val="4656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384048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Abrechnung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25196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AAB4C3"/>
                </a:solidFill>
                <a:latin typeface="Aptos"/>
              </a:rPr>
              <a:t>Shop-Rechnung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54406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DE7123"/>
                </a:solidFill>
                <a:latin typeface="Aptos"/>
              </a:rPr>
              <a:t>2 Monate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589788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AAB4C3"/>
                </a:solidFill>
                <a:latin typeface="Aptos"/>
              </a:rPr>
              <a:t>Gültigkeit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4406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E6649"/>
                </a:solidFill>
                <a:latin typeface="Aptos"/>
              </a:rPr>
              <a:t>50 / 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89788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AAB4C3"/>
                </a:solidFill>
                <a:latin typeface="Aptos"/>
              </a:rPr>
              <a:t>Club / Mitglied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54406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417EF0"/>
                </a:solidFill>
                <a:latin typeface="Aptos"/>
              </a:rPr>
              <a:t>LIVE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589788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AAB4C3"/>
                </a:solidFill>
                <a:latin typeface="Aptos"/>
              </a:rPr>
              <a:t>aktiv + gültig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417EF0"/>
                </a:solidFill>
                <a:latin typeface="Aptos"/>
              </a:rPr>
              <a:t>ONE APP. THREE PERSONAS.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Jeder sieht genau den Kontext, den er braucht.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AAB4C3"/>
                </a:solidFill>
                <a:latin typeface="Aptos"/>
              </a:rPr>
              <a:t>Ein Login kann zwischen Admin, Trainer und mehreren Mitgliedskontexten wechseln.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20240"/>
            <a:ext cx="3474720" cy="4251960"/>
          </a:xfrm>
          <a:prstGeom prst="roundRect">
            <a:avLst/>
          </a:prstGeom>
          <a:solidFill>
            <a:srgbClr val="192840"/>
          </a:solidFill>
          <a:ln>
            <a:solidFill>
              <a:srgbClr val="4656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rop_6_IMG_6337.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03120"/>
            <a:ext cx="1234440" cy="2057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057400" y="222199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417EF0"/>
                </a:solidFill>
                <a:latin typeface="Aptos"/>
              </a:rPr>
              <a:t>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2670048"/>
            <a:ext cx="16459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Alle Teams · Onboarding · Mahnungen · Voucher · Settings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57400" y="5138928"/>
            <a:ext cx="1371600" cy="393192"/>
          </a:xfrm>
          <a:prstGeom prst="roundRect">
            <a:avLst/>
          </a:prstGeom>
          <a:solidFill>
            <a:srgbClr val="1E6649"/>
          </a:solidFill>
          <a:ln>
            <a:solidFill>
              <a:srgbClr val="1E6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521208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Full control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920240"/>
            <a:ext cx="3474720" cy="4251960"/>
          </a:xfrm>
          <a:prstGeom prst="roundRect">
            <a:avLst/>
          </a:prstGeom>
          <a:solidFill>
            <a:srgbClr val="192840"/>
          </a:solidFill>
          <a:ln>
            <a:solidFill>
              <a:srgbClr val="4656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rop_6_IMG_6356.p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2103120"/>
            <a:ext cx="1234440" cy="2057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43600" y="222199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417EF0"/>
                </a:solidFill>
                <a:latin typeface="Aptos"/>
              </a:rPr>
              <a:t>TRAINER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670048"/>
            <a:ext cx="16459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Eigenes Team · Eltern · Notfall · Probe · Beiträge · Voucher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5138928"/>
            <a:ext cx="1371600" cy="393192"/>
          </a:xfrm>
          <a:prstGeom prst="roundRect">
            <a:avLst/>
          </a:prstGeom>
          <a:solidFill>
            <a:srgbClr val="1E6649"/>
          </a:solidFill>
          <a:ln>
            <a:solidFill>
              <a:srgbClr val="1E6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521208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Team-scoped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920240"/>
            <a:ext cx="3474720" cy="4251960"/>
          </a:xfrm>
          <a:prstGeom prst="roundRect">
            <a:avLst/>
          </a:prstGeom>
          <a:solidFill>
            <a:srgbClr val="192840"/>
          </a:solidFill>
          <a:ln>
            <a:solidFill>
              <a:srgbClr val="4656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rop_6_IMG_6352.p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2103120"/>
            <a:ext cx="1234440" cy="2057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829800" y="2221992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417EF0"/>
                </a:solidFill>
                <a:latin typeface="Aptos"/>
              </a:rPr>
              <a:t>MITGLIED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00" y="2670048"/>
            <a:ext cx="16459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Badge · Rechnungen · Voucher · Datenänderung · Kündigung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29800" y="5138928"/>
            <a:ext cx="1371600" cy="393192"/>
          </a:xfrm>
          <a:prstGeom prst="roundRect">
            <a:avLst/>
          </a:prstGeom>
          <a:solidFill>
            <a:srgbClr val="1E6649"/>
          </a:solidFill>
          <a:ln>
            <a:solidFill>
              <a:srgbClr val="1E6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29800" y="521208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Self-service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417EF0"/>
                </a:solidFill>
                <a:latin typeface="Aptos"/>
              </a:rPr>
              <a:t>SAAS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Aus der FC-RWW-App wird ein konfigurierbares Produkt.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AAB4C3"/>
                </a:solidFill>
                <a:latin typeface="Aptos"/>
              </a:rPr>
              <a:t>FC RWW wird Tenant #1 – Club-spezifische Regeln wandern aus dem Code in die Konfiguration.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417EF0"/>
                </a:solidFill>
                <a:latin typeface="Aptos"/>
              </a:rPr>
              <a:t>Tenant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201168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Logo · Farben · Saison · Verantwortliche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61488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417EF0"/>
                </a:solidFill>
                <a:latin typeface="Aptos"/>
              </a:rPr>
              <a:t>Football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2761488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Teams · Jahrgänge · Rollen · Trainingsorte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11296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417EF0"/>
                </a:solidFill>
                <a:latin typeface="Aptos"/>
              </a:rPr>
              <a:t>Business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511296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Beiträge · Voucher · Ferien · Onboarding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61104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417EF0"/>
                </a:solidFill>
                <a:latin typeface="Aptos"/>
              </a:rPr>
              <a:t>bexio mapping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4261104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Kategorien · Rollen · Teams · Tags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1091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417EF0"/>
                </a:solidFill>
                <a:latin typeface="Aptos"/>
              </a:rPr>
              <a:t>Integrationen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5010912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8FAFC"/>
                </a:solidFill>
                <a:latin typeface="Aptos"/>
              </a:rPr>
              <a:t>bexio · Clerk · Dropbox · Pingen · Mail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1920240"/>
            <a:ext cx="4800600" cy="3657600"/>
          </a:xfrm>
          <a:prstGeom prst="roundRect">
            <a:avLst/>
          </a:prstGeom>
          <a:solidFill>
            <a:srgbClr val="192840"/>
          </a:solidFill>
          <a:ln>
            <a:solidFill>
              <a:srgbClr val="4656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5160" y="2240280"/>
            <a:ext cx="4160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Onboarding eines Clubs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788920"/>
            <a:ext cx="3886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1  Club anlegen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3209544"/>
            <a:ext cx="3886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2  bexio verbinden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3630168"/>
            <a:ext cx="3886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3  Teams &amp; Saison konfigurieren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4050791"/>
            <a:ext cx="3886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4  Kategorien &amp; Rollen mappen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4471416"/>
            <a:ext cx="3886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5  Prozesse aktivieren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4892040"/>
            <a:ext cx="3886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6  Go live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8120" y="5230368"/>
            <a:ext cx="2468880" cy="411480"/>
          </a:xfrm>
          <a:prstGeom prst="roundRect">
            <a:avLst/>
          </a:prstGeom>
          <a:solidFill>
            <a:srgbClr val="1E6649"/>
          </a:solidFill>
          <a:ln>
            <a:solidFill>
              <a:srgbClr val="1E6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18120" y="5303520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8FAFC"/>
                </a:solidFill>
                <a:latin typeface="Aptos"/>
              </a:rPr>
              <a:t>Out of the box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417EF0"/>
                </a:solidFill>
                <a:latin typeface="Aptos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Vom bewährten Club-System zum SaaS-Produkt.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89888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AAB4C3"/>
                </a:solidFill>
                <a:latin typeface="Aptos"/>
              </a:rPr>
              <a:t>Standardisieren. Absichern. Pilotieren. Dann skalieren.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417EF0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65960"/>
            <a:ext cx="1965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Capability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196596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4C3"/>
                </a:solidFill>
                <a:latin typeface="Aptos"/>
              </a:rPr>
              <a:t>Bestehende Funktionen &amp; Prozesse vollständig inventarisieren.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7063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417EF0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770632"/>
            <a:ext cx="1965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Tenant-ready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770632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4C3"/>
                </a:solidFill>
                <a:latin typeface="Aptos"/>
              </a:rPr>
              <a:t>Club-Regeln konsequent konfigurierbar machen.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7530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417EF0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575304"/>
            <a:ext cx="1965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Security &amp; Privacy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3575304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4C3"/>
                </a:solidFill>
                <a:latin typeface="Aptos"/>
              </a:rPr>
              <a:t>Backend-Scoping, Field-Level-Rechte, Audit härten.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79976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417EF0"/>
                </a:solidFill>
                <a:latin typeface="Apto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379976"/>
            <a:ext cx="1965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Pilot Clubs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4379976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4C3"/>
                </a:solidFill>
                <a:latin typeface="Aptos"/>
              </a:rPr>
              <a:t>2–3 bexio-basierte Clubs onboarden und Setup messen.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8464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417EF0"/>
                </a:solidFill>
                <a:latin typeface="Apto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184648"/>
            <a:ext cx="1965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Commercial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5184648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B4C3"/>
                </a:solidFill>
                <a:latin typeface="Aptos"/>
              </a:rPr>
              <a:t>Pricing, Supportmodell, Verträge und Go-to-Market validieren.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6053328"/>
            <a:ext cx="10835640" cy="411480"/>
          </a:xfrm>
          <a:prstGeom prst="roundRect">
            <a:avLst/>
          </a:prstGeom>
          <a:solidFill>
            <a:srgbClr val="1E6649"/>
          </a:solidFill>
          <a:ln>
            <a:solidFill>
              <a:srgbClr val="1E6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6126480"/>
            <a:ext cx="10835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Ziel: Football Club Automation as a Service – powered by bexio.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